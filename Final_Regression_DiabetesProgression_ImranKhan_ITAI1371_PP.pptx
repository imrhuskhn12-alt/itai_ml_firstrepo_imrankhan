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60" r:id="rId5"/>
    <p:sldId id="259" r:id="rId6"/>
    <p:sldId id="261" r:id="rId7"/>
    <p:sldId id="262" r:id="rId8"/>
    <p:sldId id="263" r:id="rId9"/>
    <p:sldId id="264" r:id="rId10"/>
    <p:sldId id="267" r:id="rId11"/>
    <p:sldId id="268" r:id="rId12"/>
    <p:sldId id="269" r:id="rId13"/>
    <p:sldId id="270" r:id="rId14"/>
    <p:sldId id="271" r:id="rId15"/>
    <p:sldId id="265" r:id="rId16"/>
    <p:sldId id="26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9" autoAdjust="0"/>
    <p:restoredTop sz="94660"/>
  </p:normalViewPr>
  <p:slideViewPr>
    <p:cSldViewPr snapToGrid="0">
      <p:cViewPr varScale="1">
        <p:scale>
          <a:sx n="70" d="100"/>
          <a:sy n="70" d="100"/>
        </p:scale>
        <p:origin x="52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021568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58820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8760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44412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52163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32014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91898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71586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28178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75336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5/3/2026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5183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5/3/2026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635635200"/>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7E2F724-2FB3-4D1D-A730-739B8654C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404941AE-08D5-DFD7-A1C6-8C2AFA85E062}"/>
              </a:ext>
            </a:extLst>
          </p:cNvPr>
          <p:cNvPicPr>
            <a:picLocks noChangeAspect="1"/>
          </p:cNvPicPr>
          <p:nvPr/>
        </p:nvPicPr>
        <p:blipFill>
          <a:blip r:embed="rId2">
            <a:alphaModFix amt="40000"/>
          </a:blip>
          <a:srcRect t="976" b="13797"/>
          <a:stretch>
            <a:fillRect/>
          </a:stretch>
        </p:blipFill>
        <p:spPr>
          <a:xfrm>
            <a:off x="-2" y="-2"/>
            <a:ext cx="12192001" cy="6858001"/>
          </a:xfrm>
          <a:prstGeom prst="rect">
            <a:avLst/>
          </a:prstGeom>
        </p:spPr>
      </p:pic>
      <p:sp>
        <p:nvSpPr>
          <p:cNvPr id="2" name="Title 1">
            <a:extLst>
              <a:ext uri="{FF2B5EF4-FFF2-40B4-BE49-F238E27FC236}">
                <a16:creationId xmlns:a16="http://schemas.microsoft.com/office/drawing/2014/main" id="{98CCC375-67DB-74AF-5ECE-E2ACF143FF4B}"/>
              </a:ext>
            </a:extLst>
          </p:cNvPr>
          <p:cNvSpPr>
            <a:spLocks noGrp="1"/>
          </p:cNvSpPr>
          <p:nvPr>
            <p:ph type="ctrTitle"/>
          </p:nvPr>
        </p:nvSpPr>
        <p:spPr>
          <a:xfrm>
            <a:off x="517870" y="978407"/>
            <a:ext cx="5021182" cy="3290107"/>
          </a:xfrm>
        </p:spPr>
        <p:txBody>
          <a:bodyPr anchor="t">
            <a:normAutofit/>
          </a:bodyPr>
          <a:lstStyle/>
          <a:p>
            <a:pPr>
              <a:lnSpc>
                <a:spcPct val="90000"/>
              </a:lnSpc>
            </a:pPr>
            <a:r>
              <a:rPr lang="en-US" sz="4200" b="1">
                <a:solidFill>
                  <a:srgbClr val="FFFFFF"/>
                </a:solidFill>
              </a:rPr>
              <a:t>Diabetes Progression Prediction Using Regression Models</a:t>
            </a:r>
            <a:endParaRPr lang="en-US" sz="4200">
              <a:solidFill>
                <a:srgbClr val="FFFFFF"/>
              </a:solidFill>
            </a:endParaRPr>
          </a:p>
        </p:txBody>
      </p:sp>
      <p:sp>
        <p:nvSpPr>
          <p:cNvPr id="3" name="Subtitle 2">
            <a:extLst>
              <a:ext uri="{FF2B5EF4-FFF2-40B4-BE49-F238E27FC236}">
                <a16:creationId xmlns:a16="http://schemas.microsoft.com/office/drawing/2014/main" id="{A6067223-78D8-5068-ADAC-34D8EDBE6EDD}"/>
              </a:ext>
            </a:extLst>
          </p:cNvPr>
          <p:cNvSpPr>
            <a:spLocks noGrp="1"/>
          </p:cNvSpPr>
          <p:nvPr>
            <p:ph type="subTitle" idx="1"/>
          </p:nvPr>
        </p:nvSpPr>
        <p:spPr>
          <a:xfrm>
            <a:off x="517870" y="4482450"/>
            <a:ext cx="5040785" cy="1724029"/>
          </a:xfrm>
        </p:spPr>
        <p:txBody>
          <a:bodyPr anchor="t">
            <a:normAutofit fontScale="77500" lnSpcReduction="20000"/>
          </a:bodyPr>
          <a:lstStyle/>
          <a:p>
            <a:pPr>
              <a:lnSpc>
                <a:spcPct val="100000"/>
              </a:lnSpc>
            </a:pPr>
            <a:r>
              <a:rPr lang="en-US" sz="1300" dirty="0">
                <a:solidFill>
                  <a:srgbClr val="FFFFFF"/>
                </a:solidFill>
              </a:rPr>
              <a:t>Final Exam</a:t>
            </a:r>
          </a:p>
          <a:p>
            <a:pPr>
              <a:lnSpc>
                <a:spcPct val="100000"/>
              </a:lnSpc>
            </a:pPr>
            <a:r>
              <a:rPr lang="en-US" sz="1300" dirty="0">
                <a:solidFill>
                  <a:srgbClr val="FFFFFF"/>
                </a:solidFill>
              </a:rPr>
              <a:t>Comparative Analysis of Machine Learning Regressors</a:t>
            </a:r>
          </a:p>
          <a:p>
            <a:pPr>
              <a:lnSpc>
                <a:spcPct val="100000"/>
              </a:lnSpc>
            </a:pPr>
            <a:r>
              <a:rPr lang="en-US" sz="1300" dirty="0">
                <a:solidFill>
                  <a:srgbClr val="FFFFFF"/>
                </a:solidFill>
              </a:rPr>
              <a:t>Imran Khan</a:t>
            </a:r>
          </a:p>
          <a:p>
            <a:pPr>
              <a:lnSpc>
                <a:spcPct val="100000"/>
              </a:lnSpc>
            </a:pPr>
            <a:r>
              <a:rPr lang="en-US" sz="1300" dirty="0">
                <a:solidFill>
                  <a:srgbClr val="FFFFFF"/>
                </a:solidFill>
              </a:rPr>
              <a:t>Houston City College</a:t>
            </a:r>
          </a:p>
          <a:p>
            <a:pPr>
              <a:lnSpc>
                <a:spcPct val="100000"/>
              </a:lnSpc>
            </a:pPr>
            <a:r>
              <a:rPr lang="en-US" sz="1300" dirty="0">
                <a:solidFill>
                  <a:srgbClr val="FFFFFF"/>
                </a:solidFill>
              </a:rPr>
              <a:t>ITAI 1371 Intro to </a:t>
            </a:r>
            <a:r>
              <a:rPr lang="en-US" sz="1300" dirty="0" err="1">
                <a:solidFill>
                  <a:srgbClr val="FFFFFF"/>
                </a:solidFill>
              </a:rPr>
              <a:t>Machinelearning</a:t>
            </a:r>
            <a:endParaRPr lang="en-US" sz="1300" dirty="0">
              <a:solidFill>
                <a:srgbClr val="FFFFFF"/>
              </a:solidFill>
            </a:endParaRPr>
          </a:p>
          <a:p>
            <a:pPr>
              <a:lnSpc>
                <a:spcPct val="100000"/>
              </a:lnSpc>
            </a:pPr>
            <a:r>
              <a:rPr lang="en-US" sz="1300" dirty="0">
                <a:solidFill>
                  <a:srgbClr val="FFFFFF"/>
                </a:solidFill>
              </a:rPr>
              <a:t>5/3/2026</a:t>
            </a:r>
          </a:p>
          <a:p>
            <a:pPr>
              <a:lnSpc>
                <a:spcPct val="100000"/>
              </a:lnSpc>
            </a:pPr>
            <a:r>
              <a:rPr lang="en-US" sz="1300" dirty="0">
                <a:solidFill>
                  <a:srgbClr val="FFFFFF"/>
                </a:solidFill>
              </a:rPr>
              <a:t>Professor Rao</a:t>
            </a:r>
          </a:p>
          <a:p>
            <a:pPr>
              <a:lnSpc>
                <a:spcPct val="100000"/>
              </a:lnSpc>
            </a:pPr>
            <a:endParaRPr lang="en-US" sz="1300" dirty="0">
              <a:solidFill>
                <a:srgbClr val="FFFFFF"/>
              </a:solidFill>
            </a:endParaRPr>
          </a:p>
        </p:txBody>
      </p:sp>
      <p:sp>
        <p:nvSpPr>
          <p:cNvPr id="11"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26585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065D9BE-A58D-6E8A-D4A2-5056F3C5E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CE9B3F4-51FE-BAE5-4FC9-9B3BFBA2EFD8}"/>
              </a:ext>
            </a:extLst>
          </p:cNvPr>
          <p:cNvSpPr>
            <a:spLocks noGrp="1"/>
          </p:cNvSpPr>
          <p:nvPr>
            <p:ph type="title"/>
          </p:nvPr>
        </p:nvSpPr>
        <p:spPr>
          <a:xfrm>
            <a:off x="521208" y="978408"/>
            <a:ext cx="6263640" cy="1463040"/>
          </a:xfrm>
        </p:spPr>
        <p:txBody>
          <a:bodyPr>
            <a:normAutofit/>
          </a:bodyPr>
          <a:lstStyle/>
          <a:p>
            <a:r>
              <a:rPr lang="en-US" b="0" dirty="0"/>
              <a:t>Project Goal and Data</a:t>
            </a:r>
            <a:endParaRPr lang="en-US" dirty="0"/>
          </a:p>
        </p:txBody>
      </p:sp>
      <p:sp>
        <p:nvSpPr>
          <p:cNvPr id="12" name="Freeform: Shape 11">
            <a:extLst>
              <a:ext uri="{FF2B5EF4-FFF2-40B4-BE49-F238E27FC236}">
                <a16:creationId xmlns:a16="http://schemas.microsoft.com/office/drawing/2014/main" id="{A745E793-BC99-8991-71CD-53FFBB6A8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11156260" cy="149279"/>
          </a:xfrm>
          <a:custGeom>
            <a:avLst/>
            <a:gdLst>
              <a:gd name="connsiteX0" fmla="*/ 0 w 11156260"/>
              <a:gd name="connsiteY0" fmla="*/ 0 h 149279"/>
              <a:gd name="connsiteX1" fmla="*/ 11156260 w 11156260"/>
              <a:gd name="connsiteY1" fmla="*/ 0 h 149279"/>
              <a:gd name="connsiteX2" fmla="*/ 11156260 w 11156260"/>
              <a:gd name="connsiteY2" fmla="*/ 149279 h 149279"/>
              <a:gd name="connsiteX3" fmla="*/ 0 w 11156260"/>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11156260" h="149279">
                <a:moveTo>
                  <a:pt x="0" y="0"/>
                </a:moveTo>
                <a:lnTo>
                  <a:pt x="11156260" y="0"/>
                </a:lnTo>
                <a:lnTo>
                  <a:pt x="11156260"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BD4D8D7E-42CE-0B85-B39B-64B928315846}"/>
              </a:ext>
            </a:extLst>
          </p:cNvPr>
          <p:cNvSpPr>
            <a:spLocks noGrp="1"/>
          </p:cNvSpPr>
          <p:nvPr>
            <p:ph idx="1"/>
          </p:nvPr>
        </p:nvSpPr>
        <p:spPr>
          <a:xfrm>
            <a:off x="521208" y="2578608"/>
            <a:ext cx="6263640" cy="3767328"/>
          </a:xfrm>
        </p:spPr>
        <p:txBody>
          <a:bodyPr>
            <a:normAutofit fontScale="85000" lnSpcReduction="10000"/>
          </a:bodyPr>
          <a:lstStyle/>
          <a:p>
            <a:r>
              <a:rPr lang="en-US" dirty="0"/>
              <a:t>Predict diabetes progression after one year using regression models.</a:t>
            </a:r>
          </a:p>
          <a:p>
            <a:r>
              <a:rPr lang="en-US" dirty="0"/>
              <a:t>Use the diabetes dataset with 442 rows, 10 numeric features, and 1 target value.</a:t>
            </a:r>
          </a:p>
          <a:p>
            <a:r>
              <a:rPr lang="en-US" dirty="0"/>
              <a:t>Features include age, sex, BMI, blood pressure, and blood measurements s1 through s6.</a:t>
            </a:r>
          </a:p>
          <a:p>
            <a:r>
              <a:rPr lang="en-US" dirty="0"/>
              <a:t>Split the data into 70% training, 15% validation, and 15% testing.</a:t>
            </a:r>
          </a:p>
          <a:p>
            <a:r>
              <a:rPr lang="en-US" dirty="0"/>
              <a:t>The goal of the project was to train several regression models, compare their performance, and then test ensemble methods to see whether combining models could improve predictions. Since the dataset was already clean and numeric, the main preprocessing step was preparing the features and target and splitting the data into training, validation, and test sets.</a:t>
            </a:r>
            <a:br>
              <a:rPr lang="en-US" dirty="0"/>
            </a:br>
            <a:endParaRPr lang="en-US" dirty="0"/>
          </a:p>
        </p:txBody>
      </p:sp>
      <p:pic>
        <p:nvPicPr>
          <p:cNvPr id="7" name="Graphic 6" descr="New Team Project">
            <a:extLst>
              <a:ext uri="{FF2B5EF4-FFF2-40B4-BE49-F238E27FC236}">
                <a16:creationId xmlns:a16="http://schemas.microsoft.com/office/drawing/2014/main" id="{CF4C61FD-DE2C-590C-9994-C7312A5DEB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06492" y="976160"/>
            <a:ext cx="4364590" cy="4364590"/>
          </a:xfrm>
          <a:prstGeom prst="rect">
            <a:avLst/>
          </a:prstGeom>
        </p:spPr>
      </p:pic>
    </p:spTree>
    <p:extLst>
      <p:ext uri="{BB962C8B-B14F-4D97-AF65-F5344CB8AC3E}">
        <p14:creationId xmlns:p14="http://schemas.microsoft.com/office/powerpoint/2010/main" val="3033632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3AC883F-69DD-D349-B469-8CDE2139FA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F0013D1-4B56-689F-FF9F-9006694B6E6A}"/>
              </a:ext>
            </a:extLst>
          </p:cNvPr>
          <p:cNvSpPr>
            <a:spLocks noGrp="1"/>
          </p:cNvSpPr>
          <p:nvPr>
            <p:ph type="title"/>
          </p:nvPr>
        </p:nvSpPr>
        <p:spPr>
          <a:xfrm>
            <a:off x="521208" y="978408"/>
            <a:ext cx="4032504" cy="2121408"/>
          </a:xfrm>
        </p:spPr>
        <p:txBody>
          <a:bodyPr>
            <a:normAutofit/>
          </a:bodyPr>
          <a:lstStyle/>
          <a:p>
            <a:r>
              <a:rPr lang="en-US" sz="4000" b="0"/>
              <a:t>Models Used</a:t>
            </a:r>
            <a:endParaRPr lang="en-US" sz="4000"/>
          </a:p>
        </p:txBody>
      </p:sp>
      <p:sp>
        <p:nvSpPr>
          <p:cNvPr id="19" name="Rectangle 18">
            <a:extLst>
              <a:ext uri="{FF2B5EF4-FFF2-40B4-BE49-F238E27FC236}">
                <a16:creationId xmlns:a16="http://schemas.microsoft.com/office/drawing/2014/main" id="{5B0749EA-BE79-9EB1-B769-385489D43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03336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E5913DE-5FC3-6E84-57B7-19B2096A52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76630" y="612648"/>
            <a:ext cx="659282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heckmark">
            <a:extLst>
              <a:ext uri="{FF2B5EF4-FFF2-40B4-BE49-F238E27FC236}">
                <a16:creationId xmlns:a16="http://schemas.microsoft.com/office/drawing/2014/main" id="{78E3E0AC-E868-BF34-E24F-FA196C3F494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7869" y="3511363"/>
            <a:ext cx="2834640" cy="2834640"/>
          </a:xfrm>
          <a:prstGeom prst="rect">
            <a:avLst/>
          </a:prstGeom>
        </p:spPr>
      </p:pic>
      <p:sp>
        <p:nvSpPr>
          <p:cNvPr id="3" name="Content Placeholder 2">
            <a:extLst>
              <a:ext uri="{FF2B5EF4-FFF2-40B4-BE49-F238E27FC236}">
                <a16:creationId xmlns:a16="http://schemas.microsoft.com/office/drawing/2014/main" id="{21C2888E-7460-16D1-84D5-502CA050BD85}"/>
              </a:ext>
            </a:extLst>
          </p:cNvPr>
          <p:cNvSpPr>
            <a:spLocks noGrp="1"/>
          </p:cNvSpPr>
          <p:nvPr>
            <p:ph idx="1"/>
          </p:nvPr>
        </p:nvSpPr>
        <p:spPr>
          <a:xfrm>
            <a:off x="5074920" y="1033272"/>
            <a:ext cx="6592824" cy="5312664"/>
          </a:xfrm>
        </p:spPr>
        <p:txBody>
          <a:bodyPr>
            <a:normAutofit/>
          </a:bodyPr>
          <a:lstStyle/>
          <a:p>
            <a:pPr>
              <a:lnSpc>
                <a:spcPct val="100000"/>
              </a:lnSpc>
            </a:pPr>
            <a:r>
              <a:rPr lang="en-US" dirty="0"/>
              <a:t>Linear Regression</a:t>
            </a:r>
          </a:p>
          <a:p>
            <a:pPr>
              <a:lnSpc>
                <a:spcPct val="100000"/>
              </a:lnSpc>
            </a:pPr>
            <a:r>
              <a:rPr lang="en-US" dirty="0"/>
              <a:t>Decision Tree Regressor</a:t>
            </a:r>
          </a:p>
          <a:p>
            <a:pPr>
              <a:lnSpc>
                <a:spcPct val="100000"/>
              </a:lnSpc>
            </a:pPr>
            <a:r>
              <a:rPr lang="en-US" dirty="0"/>
              <a:t>Random Forest Regressor</a:t>
            </a:r>
          </a:p>
          <a:p>
            <a:pPr>
              <a:lnSpc>
                <a:spcPct val="100000"/>
              </a:lnSpc>
            </a:pPr>
            <a:r>
              <a:rPr lang="en-US" dirty="0"/>
              <a:t>Gradient Boosting Regressor</a:t>
            </a:r>
          </a:p>
          <a:p>
            <a:pPr>
              <a:lnSpc>
                <a:spcPct val="100000"/>
              </a:lnSpc>
            </a:pPr>
            <a:r>
              <a:rPr lang="en-US" dirty="0"/>
              <a:t>K-Nearest Neighbors Regressor (KNN)</a:t>
            </a:r>
          </a:p>
          <a:p>
            <a:pPr>
              <a:lnSpc>
                <a:spcPct val="100000"/>
              </a:lnSpc>
            </a:pPr>
            <a:r>
              <a:rPr lang="en-US" dirty="0" err="1"/>
              <a:t>XGBoost</a:t>
            </a:r>
            <a:endParaRPr lang="en-US" dirty="0"/>
          </a:p>
          <a:p>
            <a:pPr>
              <a:lnSpc>
                <a:spcPct val="100000"/>
              </a:lnSpc>
            </a:pPr>
            <a:r>
              <a:rPr lang="en-US" dirty="0"/>
              <a:t>Voting_Top3 ensemble</a:t>
            </a:r>
          </a:p>
          <a:p>
            <a:pPr>
              <a:lnSpc>
                <a:spcPct val="100000"/>
              </a:lnSpc>
            </a:pPr>
            <a:r>
              <a:rPr lang="en-US" dirty="0" err="1"/>
              <a:t>Bayesian_Ensemble</a:t>
            </a:r>
            <a:endParaRPr lang="en-US" dirty="0"/>
          </a:p>
          <a:p>
            <a:pPr>
              <a:lnSpc>
                <a:spcPct val="100000"/>
              </a:lnSpc>
            </a:pPr>
            <a:r>
              <a:rPr lang="en-US" dirty="0"/>
              <a:t>Several regression models were trained to predict the target in different ways. After comparing the base models, two ensemble methods were tested: Voting_Top3, which averages the top three models, and </a:t>
            </a:r>
            <a:r>
              <a:rPr lang="en-US" dirty="0" err="1"/>
              <a:t>Bayesian_Ensemble</a:t>
            </a:r>
            <a:r>
              <a:rPr lang="en-US" dirty="0"/>
              <a:t>, which uses the predictions of the top three models as inputs to a Bayesian Ridge model.</a:t>
            </a:r>
          </a:p>
        </p:txBody>
      </p:sp>
    </p:spTree>
    <p:extLst>
      <p:ext uri="{BB962C8B-B14F-4D97-AF65-F5344CB8AC3E}">
        <p14:creationId xmlns:p14="http://schemas.microsoft.com/office/powerpoint/2010/main" val="3733339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3AC883F-69DD-D349-B469-8CDE2139FA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F3F1699-A05B-2EFA-FBA5-FAFE7F76E8DF}"/>
              </a:ext>
            </a:extLst>
          </p:cNvPr>
          <p:cNvSpPr>
            <a:spLocks noGrp="1"/>
          </p:cNvSpPr>
          <p:nvPr>
            <p:ph type="title"/>
          </p:nvPr>
        </p:nvSpPr>
        <p:spPr>
          <a:xfrm>
            <a:off x="521208" y="978408"/>
            <a:ext cx="4032504" cy="2121408"/>
          </a:xfrm>
        </p:spPr>
        <p:txBody>
          <a:bodyPr>
            <a:normAutofit/>
          </a:bodyPr>
          <a:lstStyle/>
          <a:p>
            <a:r>
              <a:rPr lang="en-US" sz="4000" b="0"/>
              <a:t>Evaluation Metrics</a:t>
            </a:r>
            <a:endParaRPr lang="en-US" sz="4000"/>
          </a:p>
        </p:txBody>
      </p:sp>
      <p:sp>
        <p:nvSpPr>
          <p:cNvPr id="12" name="Rectangle 11">
            <a:extLst>
              <a:ext uri="{FF2B5EF4-FFF2-40B4-BE49-F238E27FC236}">
                <a16:creationId xmlns:a16="http://schemas.microsoft.com/office/drawing/2014/main" id="{5B0749EA-BE79-9EB1-B769-385489D43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03336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5913DE-5FC3-6E84-57B7-19B2096A52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76630" y="612648"/>
            <a:ext cx="659282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ar chart">
            <a:extLst>
              <a:ext uri="{FF2B5EF4-FFF2-40B4-BE49-F238E27FC236}">
                <a16:creationId xmlns:a16="http://schemas.microsoft.com/office/drawing/2014/main" id="{BA44875D-A548-A3CD-AD5A-EA93F78E785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7869" y="3511363"/>
            <a:ext cx="2834640" cy="2834640"/>
          </a:xfrm>
          <a:prstGeom prst="rect">
            <a:avLst/>
          </a:prstGeom>
        </p:spPr>
      </p:pic>
      <p:sp>
        <p:nvSpPr>
          <p:cNvPr id="3" name="Content Placeholder 2">
            <a:extLst>
              <a:ext uri="{FF2B5EF4-FFF2-40B4-BE49-F238E27FC236}">
                <a16:creationId xmlns:a16="http://schemas.microsoft.com/office/drawing/2014/main" id="{0B6C46F3-1C6F-C200-7B7F-3652EB5A7B14}"/>
              </a:ext>
            </a:extLst>
          </p:cNvPr>
          <p:cNvSpPr>
            <a:spLocks noGrp="1"/>
          </p:cNvSpPr>
          <p:nvPr>
            <p:ph idx="1"/>
          </p:nvPr>
        </p:nvSpPr>
        <p:spPr>
          <a:xfrm>
            <a:off x="5074920" y="1033272"/>
            <a:ext cx="6592824" cy="5312664"/>
          </a:xfrm>
        </p:spPr>
        <p:txBody>
          <a:bodyPr>
            <a:normAutofit/>
          </a:bodyPr>
          <a:lstStyle/>
          <a:p>
            <a:r>
              <a:rPr lang="en-US" dirty="0"/>
              <a:t>MAE measures the average size of prediction errors. Lower is better.</a:t>
            </a:r>
          </a:p>
          <a:p>
            <a:r>
              <a:rPr lang="en-US" dirty="0"/>
              <a:t>MSE measures prediction error and penalizes larger mistakes more strongly. Lower is better.</a:t>
            </a:r>
          </a:p>
          <a:p>
            <a:r>
              <a:rPr lang="en-US" dirty="0"/>
              <a:t>R-squared shows how well the model explains the pattern in the data. Higher is better.</a:t>
            </a:r>
          </a:p>
          <a:p>
            <a:r>
              <a:rPr lang="en-US" dirty="0"/>
              <a:t>The models were compared using Mean Absolute Error, Mean Squared Error, and R-squared on both the validation and test sets. These metrics helped compare the models during development and also determine which one performed best on unseen data.</a:t>
            </a:r>
          </a:p>
        </p:txBody>
      </p:sp>
    </p:spTree>
    <p:extLst>
      <p:ext uri="{BB962C8B-B14F-4D97-AF65-F5344CB8AC3E}">
        <p14:creationId xmlns:p14="http://schemas.microsoft.com/office/powerpoint/2010/main" val="2143636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Freeform: Shape 34">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Freeform: Shape 3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9" name="Rectangle 38">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41D55B-B9D5-D06C-97C4-B62F132D4F16}"/>
              </a:ext>
            </a:extLst>
          </p:cNvPr>
          <p:cNvSpPr>
            <a:spLocks noGrp="1"/>
          </p:cNvSpPr>
          <p:nvPr>
            <p:ph type="title"/>
          </p:nvPr>
        </p:nvSpPr>
        <p:spPr>
          <a:xfrm>
            <a:off x="517869" y="1000768"/>
            <a:ext cx="3566452" cy="2985582"/>
          </a:xfrm>
        </p:spPr>
        <p:txBody>
          <a:bodyPr vert="horz" lIns="91440" tIns="45720" rIns="91440" bIns="45720" rtlCol="0" anchor="b">
            <a:normAutofit/>
          </a:bodyPr>
          <a:lstStyle/>
          <a:p>
            <a:pPr>
              <a:lnSpc>
                <a:spcPct val="90000"/>
              </a:lnSpc>
            </a:pPr>
            <a:r>
              <a:rPr lang="en-US" sz="1900" dirty="0"/>
              <a:t>Results per Model</a:t>
            </a:r>
            <a:br>
              <a:rPr lang="en-US" sz="1900" dirty="0"/>
            </a:br>
            <a:br>
              <a:rPr lang="en-US" sz="1900" dirty="0"/>
            </a:br>
            <a:r>
              <a:rPr lang="en-US" sz="1900" b="0" dirty="0"/>
              <a:t>This table summarizes the validation and test performance for all eight models in the project. It shows that several models performed reasonably well, but the strongest results came from Linear Regression, Random Forest, and Voting_Top3.</a:t>
            </a:r>
          </a:p>
        </p:txBody>
      </p:sp>
      <p:sp>
        <p:nvSpPr>
          <p:cNvPr id="41" name="Freeform: Shape 40">
            <a:extLst>
              <a:ext uri="{FF2B5EF4-FFF2-40B4-BE49-F238E27FC236}">
                <a16:creationId xmlns:a16="http://schemas.microsoft.com/office/drawing/2014/main" id="{BD0C058D-27D4-3139-E199-E2C11099B6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Content Placeholder 5">
            <a:extLst>
              <a:ext uri="{FF2B5EF4-FFF2-40B4-BE49-F238E27FC236}">
                <a16:creationId xmlns:a16="http://schemas.microsoft.com/office/drawing/2014/main" id="{E92696FC-CBBC-69B6-EBF7-5E0D187ED17A}"/>
              </a:ext>
            </a:extLst>
          </p:cNvPr>
          <p:cNvPicPr>
            <a:picLocks noGrp="1" noChangeAspect="1"/>
          </p:cNvPicPr>
          <p:nvPr>
            <p:ph idx="1"/>
          </p:nvPr>
        </p:nvPicPr>
        <p:blipFill>
          <a:blip r:embed="rId2"/>
          <a:stretch>
            <a:fillRect/>
          </a:stretch>
        </p:blipFill>
        <p:spPr>
          <a:xfrm>
            <a:off x="4337595" y="1416249"/>
            <a:ext cx="7333488" cy="4125085"/>
          </a:xfrm>
          <a:prstGeom prst="rect">
            <a:avLst/>
          </a:prstGeom>
        </p:spPr>
      </p:pic>
      <p:sp>
        <p:nvSpPr>
          <p:cNvPr id="43" name="Freeform: Shape 42">
            <a:extLst>
              <a:ext uri="{FF2B5EF4-FFF2-40B4-BE49-F238E27FC236}">
                <a16:creationId xmlns:a16="http://schemas.microsoft.com/office/drawing/2014/main" id="{E94E0531-D614-3CB6-996E-FF0184A33A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6300216"/>
            <a:ext cx="11165482" cy="45719"/>
          </a:xfrm>
          <a:custGeom>
            <a:avLst/>
            <a:gdLst>
              <a:gd name="connsiteX0" fmla="*/ 0 w 11165482"/>
              <a:gd name="connsiteY0" fmla="*/ 0 h 45719"/>
              <a:gd name="connsiteX1" fmla="*/ 3694525 w 11165482"/>
              <a:gd name="connsiteY1" fmla="*/ 0 h 45719"/>
              <a:gd name="connsiteX2" fmla="*/ 5021183 w 11165482"/>
              <a:gd name="connsiteY2" fmla="*/ 0 h 45719"/>
              <a:gd name="connsiteX3" fmla="*/ 6144299 w 11165482"/>
              <a:gd name="connsiteY3" fmla="*/ 0 h 45719"/>
              <a:gd name="connsiteX4" fmla="*/ 8715708 w 11165482"/>
              <a:gd name="connsiteY4" fmla="*/ 0 h 45719"/>
              <a:gd name="connsiteX5" fmla="*/ 11165482 w 11165482"/>
              <a:gd name="connsiteY5" fmla="*/ 0 h 45719"/>
              <a:gd name="connsiteX6" fmla="*/ 11165482 w 11165482"/>
              <a:gd name="connsiteY6" fmla="*/ 45719 h 45719"/>
              <a:gd name="connsiteX7" fmla="*/ 8715708 w 11165482"/>
              <a:gd name="connsiteY7" fmla="*/ 45719 h 45719"/>
              <a:gd name="connsiteX8" fmla="*/ 6144299 w 11165482"/>
              <a:gd name="connsiteY8" fmla="*/ 45719 h 45719"/>
              <a:gd name="connsiteX9" fmla="*/ 5021183 w 11165482"/>
              <a:gd name="connsiteY9" fmla="*/ 45719 h 45719"/>
              <a:gd name="connsiteX10" fmla="*/ 3694525 w 11165482"/>
              <a:gd name="connsiteY10" fmla="*/ 45719 h 45719"/>
              <a:gd name="connsiteX11" fmla="*/ 0 w 11165482"/>
              <a:gd name="connsiteY11" fmla="*/ 45719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3694525 w 11165482"/>
              <a:gd name="connsiteY9" fmla="*/ 45719 h 45719"/>
              <a:gd name="connsiteX10" fmla="*/ 0 w 11165482"/>
              <a:gd name="connsiteY10" fmla="*/ 45719 h 45719"/>
              <a:gd name="connsiteX11" fmla="*/ 0 w 11165482"/>
              <a:gd name="connsiteY11" fmla="*/ 0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0 w 11165482"/>
              <a:gd name="connsiteY9" fmla="*/ 45719 h 45719"/>
              <a:gd name="connsiteX10" fmla="*/ 0 w 11165482"/>
              <a:gd name="connsiteY10"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6144299 w 11165482"/>
              <a:gd name="connsiteY6" fmla="*/ 45719 h 45719"/>
              <a:gd name="connsiteX7" fmla="*/ 5021183 w 11165482"/>
              <a:gd name="connsiteY7" fmla="*/ 45719 h 45719"/>
              <a:gd name="connsiteX8" fmla="*/ 0 w 11165482"/>
              <a:gd name="connsiteY8" fmla="*/ 45719 h 45719"/>
              <a:gd name="connsiteX9" fmla="*/ 0 w 11165482"/>
              <a:gd name="connsiteY9"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5021183 w 11165482"/>
              <a:gd name="connsiteY6" fmla="*/ 45719 h 45719"/>
              <a:gd name="connsiteX7" fmla="*/ 0 w 11165482"/>
              <a:gd name="connsiteY7" fmla="*/ 45719 h 45719"/>
              <a:gd name="connsiteX8" fmla="*/ 0 w 11165482"/>
              <a:gd name="connsiteY8"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5021183 w 11165482"/>
              <a:gd name="connsiteY5" fmla="*/ 45719 h 45719"/>
              <a:gd name="connsiteX6" fmla="*/ 0 w 11165482"/>
              <a:gd name="connsiteY6" fmla="*/ 45719 h 45719"/>
              <a:gd name="connsiteX7" fmla="*/ 0 w 11165482"/>
              <a:gd name="connsiteY7"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0 w 11165482"/>
              <a:gd name="connsiteY5" fmla="*/ 45719 h 45719"/>
              <a:gd name="connsiteX6" fmla="*/ 0 w 11165482"/>
              <a:gd name="connsiteY6"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0 w 11165482"/>
              <a:gd name="connsiteY4" fmla="*/ 45719 h 45719"/>
              <a:gd name="connsiteX5" fmla="*/ 0 w 11165482"/>
              <a:gd name="connsiteY5" fmla="*/ 0 h 45719"/>
              <a:gd name="connsiteX0" fmla="*/ 0 w 11165482"/>
              <a:gd name="connsiteY0" fmla="*/ 0 h 45719"/>
              <a:gd name="connsiteX1" fmla="*/ 11165482 w 11165482"/>
              <a:gd name="connsiteY1" fmla="*/ 0 h 45719"/>
              <a:gd name="connsiteX2" fmla="*/ 11165482 w 11165482"/>
              <a:gd name="connsiteY2" fmla="*/ 45719 h 45719"/>
              <a:gd name="connsiteX3" fmla="*/ 0 w 11165482"/>
              <a:gd name="connsiteY3" fmla="*/ 45719 h 45719"/>
              <a:gd name="connsiteX4" fmla="*/ 0 w 11165482"/>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482" h="45719">
                <a:moveTo>
                  <a:pt x="0" y="0"/>
                </a:moveTo>
                <a:lnTo>
                  <a:pt x="11165482" y="0"/>
                </a:lnTo>
                <a:lnTo>
                  <a:pt x="11165482" y="45719"/>
                </a:lnTo>
                <a:lnTo>
                  <a:pt x="0" y="4571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70246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Rectangle 9">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1299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2" name="Rectangle 11">
            <a:extLst>
              <a:ext uri="{FF2B5EF4-FFF2-40B4-BE49-F238E27FC236}">
                <a16:creationId xmlns:a16="http://schemas.microsoft.com/office/drawing/2014/main" id="{5B3B7A5C-39EE-77A0-28F9-DF5137231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611650"/>
            <a:ext cx="703173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193CE6F1-9709-A72B-D772-8FBD3D379A8C}"/>
              </a:ext>
            </a:extLst>
          </p:cNvPr>
          <p:cNvSpPr>
            <a:spLocks noGrp="1"/>
          </p:cNvSpPr>
          <p:nvPr>
            <p:ph type="title"/>
          </p:nvPr>
        </p:nvSpPr>
        <p:spPr>
          <a:xfrm>
            <a:off x="521208" y="978408"/>
            <a:ext cx="3410712" cy="5376672"/>
          </a:xfrm>
        </p:spPr>
        <p:txBody>
          <a:bodyPr>
            <a:normAutofit/>
          </a:bodyPr>
          <a:lstStyle/>
          <a:p>
            <a:r>
              <a:rPr lang="en-US" sz="4000" b="0"/>
              <a:t>Best Validation and Test Results</a:t>
            </a:r>
            <a:endParaRPr lang="en-US" sz="4000"/>
          </a:p>
        </p:txBody>
      </p:sp>
      <p:sp>
        <p:nvSpPr>
          <p:cNvPr id="3" name="Content Placeholder 2">
            <a:extLst>
              <a:ext uri="{FF2B5EF4-FFF2-40B4-BE49-F238E27FC236}">
                <a16:creationId xmlns:a16="http://schemas.microsoft.com/office/drawing/2014/main" id="{7F2DA57B-45CE-4745-69F6-129C0664B91B}"/>
              </a:ext>
            </a:extLst>
          </p:cNvPr>
          <p:cNvSpPr>
            <a:spLocks noGrp="1"/>
          </p:cNvSpPr>
          <p:nvPr>
            <p:ph idx="1"/>
          </p:nvPr>
        </p:nvSpPr>
        <p:spPr>
          <a:xfrm>
            <a:off x="4636008" y="1042416"/>
            <a:ext cx="7031736" cy="5312664"/>
          </a:xfrm>
        </p:spPr>
        <p:txBody>
          <a:bodyPr>
            <a:normAutofit/>
          </a:bodyPr>
          <a:lstStyle/>
          <a:p>
            <a:r>
              <a:rPr lang="en-US" dirty="0"/>
              <a:t>Linear Regression performed best on the validation set.</a:t>
            </a:r>
          </a:p>
          <a:p>
            <a:r>
              <a:rPr lang="en-US" dirty="0"/>
              <a:t>Validation MSE: 2499.32</a:t>
            </a:r>
          </a:p>
          <a:p>
            <a:r>
              <a:rPr lang="en-US" dirty="0"/>
              <a:t>Validation R²: 0.511</a:t>
            </a:r>
          </a:p>
          <a:p>
            <a:r>
              <a:rPr lang="en-US" dirty="0"/>
              <a:t>Random Forest performed best on the test set.</a:t>
            </a:r>
          </a:p>
          <a:p>
            <a:r>
              <a:rPr lang="en-US" dirty="0"/>
              <a:t>Test MSE: 2904.35</a:t>
            </a:r>
          </a:p>
          <a:p>
            <a:r>
              <a:rPr lang="en-US" dirty="0"/>
              <a:t>Test R²: 0.488</a:t>
            </a:r>
          </a:p>
          <a:p>
            <a:r>
              <a:rPr lang="en-US" dirty="0"/>
              <a:t>On the validation set, Linear Regression was the strongest model because it had the lowest validation MSE and the highest validation R-squared. On the test set, Random Forest performed best overall, which means it gave the strongest predictions on new, unseen data.</a:t>
            </a:r>
          </a:p>
          <a:p>
            <a:pPr marL="0" indent="0">
              <a:buNone/>
            </a:pPr>
            <a:endParaRPr lang="en-US" dirty="0"/>
          </a:p>
        </p:txBody>
      </p:sp>
    </p:spTree>
    <p:extLst>
      <p:ext uri="{BB962C8B-B14F-4D97-AF65-F5344CB8AC3E}">
        <p14:creationId xmlns:p14="http://schemas.microsoft.com/office/powerpoint/2010/main" val="3377170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0" name="Rectangle 9">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28853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2" name="Rectangle 11">
            <a:extLst>
              <a:ext uri="{FF2B5EF4-FFF2-40B4-BE49-F238E27FC236}">
                <a16:creationId xmlns:a16="http://schemas.microsoft.com/office/drawing/2014/main" id="{AB1E35EA-FB9C-AE5F-4AB8-1B3D59CC9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22976" y="611650"/>
            <a:ext cx="6144768"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B6A6FD30-5058-3407-7AD5-A2AB38CAB1C4}"/>
              </a:ext>
            </a:extLst>
          </p:cNvPr>
          <p:cNvSpPr>
            <a:spLocks noGrp="1"/>
          </p:cNvSpPr>
          <p:nvPr>
            <p:ph type="title"/>
          </p:nvPr>
        </p:nvSpPr>
        <p:spPr>
          <a:xfrm>
            <a:off x="521208" y="978408"/>
            <a:ext cx="4288536" cy="5376672"/>
          </a:xfrm>
        </p:spPr>
        <p:txBody>
          <a:bodyPr>
            <a:normAutofit/>
          </a:bodyPr>
          <a:lstStyle/>
          <a:p>
            <a:r>
              <a:rPr lang="en-US" b="0" dirty="0"/>
              <a:t>Ensemble Model Analysis</a:t>
            </a:r>
            <a:endParaRPr lang="en-US" dirty="0"/>
          </a:p>
        </p:txBody>
      </p:sp>
      <p:sp>
        <p:nvSpPr>
          <p:cNvPr id="15" name="Content Placeholder 2">
            <a:extLst>
              <a:ext uri="{FF2B5EF4-FFF2-40B4-BE49-F238E27FC236}">
                <a16:creationId xmlns:a16="http://schemas.microsoft.com/office/drawing/2014/main" id="{91D91527-9D2E-9AFC-2E5B-564A7C02B4F9}"/>
              </a:ext>
            </a:extLst>
          </p:cNvPr>
          <p:cNvSpPr>
            <a:spLocks noGrp="1"/>
          </p:cNvSpPr>
          <p:nvPr>
            <p:ph idx="1"/>
          </p:nvPr>
        </p:nvSpPr>
        <p:spPr>
          <a:xfrm>
            <a:off x="5522976" y="1042416"/>
            <a:ext cx="6144768" cy="5312664"/>
          </a:xfrm>
        </p:spPr>
        <p:txBody>
          <a:bodyPr>
            <a:normAutofit/>
          </a:bodyPr>
          <a:lstStyle/>
          <a:p>
            <a:r>
              <a:rPr lang="en-US"/>
              <a:t>Voting_Top3 test MSE: 2953.74 and test R²: 0.480.</a:t>
            </a:r>
          </a:p>
          <a:p>
            <a:r>
              <a:rPr lang="en-US"/>
              <a:t>Voting_Top3 was one of the strongest models in the project.</a:t>
            </a:r>
          </a:p>
          <a:p>
            <a:r>
              <a:rPr lang="en-US" err="1"/>
              <a:t>Bayesian_Ensemble</a:t>
            </a:r>
            <a:r>
              <a:rPr lang="en-US"/>
              <a:t> test MSE: 3069.84 and test R²: 0.459.</a:t>
            </a:r>
          </a:p>
          <a:p>
            <a:r>
              <a:rPr lang="en-US" err="1"/>
              <a:t>Bayesian_Ensemble</a:t>
            </a:r>
            <a:r>
              <a:rPr lang="en-US"/>
              <a:t> performed reasonably well, but it did not beat Voting_Top3.</a:t>
            </a:r>
          </a:p>
          <a:p>
            <a:r>
              <a:rPr lang="en-US"/>
              <a:t>The first ensemble method, Voting_Top3, performed very well and came close to Random Forest on the test set. The </a:t>
            </a:r>
            <a:r>
              <a:rPr lang="en-US" err="1"/>
              <a:t>Bayesian_Ensemble</a:t>
            </a:r>
            <a:r>
              <a:rPr lang="en-US"/>
              <a:t> also worked reasonably well, but it did not improve enough to outperform the simpler voting approach.</a:t>
            </a:r>
          </a:p>
        </p:txBody>
      </p:sp>
    </p:spTree>
    <p:extLst>
      <p:ext uri="{BB962C8B-B14F-4D97-AF65-F5344CB8AC3E}">
        <p14:creationId xmlns:p14="http://schemas.microsoft.com/office/powerpoint/2010/main" val="927781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653AE3C-AC4F-907C-B473-B9A30D2150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5" name="Rectangle 14">
            <a:extLst>
              <a:ext uri="{FF2B5EF4-FFF2-40B4-BE49-F238E27FC236}">
                <a16:creationId xmlns:a16="http://schemas.microsoft.com/office/drawing/2014/main" id="{DC81933E-93BD-38CE-3C98-D10B2844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1299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6" name="Rectangle 15">
            <a:extLst>
              <a:ext uri="{FF2B5EF4-FFF2-40B4-BE49-F238E27FC236}">
                <a16:creationId xmlns:a16="http://schemas.microsoft.com/office/drawing/2014/main" id="{5B3B7A5C-39EE-77A0-28F9-DF5137231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6008" y="611650"/>
            <a:ext cx="7031736"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03FE4F14-4082-4848-C886-E85958CCA7F0}"/>
              </a:ext>
            </a:extLst>
          </p:cNvPr>
          <p:cNvSpPr>
            <a:spLocks noGrp="1"/>
          </p:cNvSpPr>
          <p:nvPr>
            <p:ph type="title"/>
          </p:nvPr>
        </p:nvSpPr>
        <p:spPr>
          <a:xfrm>
            <a:off x="521208" y="978408"/>
            <a:ext cx="3410712" cy="5376672"/>
          </a:xfrm>
        </p:spPr>
        <p:txBody>
          <a:bodyPr>
            <a:normAutofit/>
          </a:bodyPr>
          <a:lstStyle/>
          <a:p>
            <a:r>
              <a:rPr lang="en-US" sz="4000" b="0"/>
              <a:t>Why Random Forest Performed Best</a:t>
            </a:r>
            <a:endParaRPr lang="en-US" sz="4000"/>
          </a:p>
        </p:txBody>
      </p:sp>
      <p:sp>
        <p:nvSpPr>
          <p:cNvPr id="3" name="Content Placeholder 2">
            <a:extLst>
              <a:ext uri="{FF2B5EF4-FFF2-40B4-BE49-F238E27FC236}">
                <a16:creationId xmlns:a16="http://schemas.microsoft.com/office/drawing/2014/main" id="{DF6FA311-17FA-34EC-1B53-0935BAC0913D}"/>
              </a:ext>
            </a:extLst>
          </p:cNvPr>
          <p:cNvSpPr>
            <a:spLocks noGrp="1"/>
          </p:cNvSpPr>
          <p:nvPr>
            <p:ph idx="1"/>
          </p:nvPr>
        </p:nvSpPr>
        <p:spPr>
          <a:xfrm>
            <a:off x="4636008" y="1042416"/>
            <a:ext cx="7031736" cy="5312664"/>
          </a:xfrm>
        </p:spPr>
        <p:txBody>
          <a:bodyPr>
            <a:normAutofit/>
          </a:bodyPr>
          <a:lstStyle/>
          <a:p>
            <a:r>
              <a:rPr lang="en-US" dirty="0"/>
              <a:t>Random Forest achieved the highest test R² and the lowest test MSE.</a:t>
            </a:r>
          </a:p>
          <a:p>
            <a:r>
              <a:rPr lang="en-US" dirty="0"/>
              <a:t>It can learn more complex and nonlinear patterns than Linear Regression.</a:t>
            </a:r>
          </a:p>
          <a:p>
            <a:r>
              <a:rPr lang="en-US" dirty="0"/>
              <a:t>Combining many decision trees likely helped it generalize better.</a:t>
            </a:r>
          </a:p>
          <a:p>
            <a:r>
              <a:rPr lang="en-US" dirty="0"/>
              <a:t>A likely reason Random Forest performed best is that it can capture nonlinear relationships in the data. Linear Regression works well when relationships are mostly straight and simple, but Random Forest has more flexibility because it combines many decision trees.</a:t>
            </a:r>
          </a:p>
        </p:txBody>
      </p:sp>
    </p:spTree>
    <p:extLst>
      <p:ext uri="{BB962C8B-B14F-4D97-AF65-F5344CB8AC3E}">
        <p14:creationId xmlns:p14="http://schemas.microsoft.com/office/powerpoint/2010/main" val="1271132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97FA6159-FC74-AC92-F3A3-529CD5DD118A}"/>
              </a:ext>
            </a:extLst>
          </p:cNvPr>
          <p:cNvSpPr>
            <a:spLocks noGrp="1"/>
          </p:cNvSpPr>
          <p:nvPr>
            <p:ph type="title"/>
          </p:nvPr>
        </p:nvSpPr>
        <p:spPr>
          <a:xfrm>
            <a:off x="521208" y="978408"/>
            <a:ext cx="4672584" cy="1783080"/>
          </a:xfrm>
        </p:spPr>
        <p:txBody>
          <a:bodyPr>
            <a:normAutofit/>
          </a:bodyPr>
          <a:lstStyle/>
          <a:p>
            <a:r>
              <a:rPr lang="en-US" b="0" dirty="0"/>
              <a:t>Visualizations Used</a:t>
            </a:r>
            <a:endParaRPr lang="en-US" dirty="0"/>
          </a:p>
        </p:txBody>
      </p:sp>
      <p:sp>
        <p:nvSpPr>
          <p:cNvPr id="16" name="Rectangle 15">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7258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4" name="Rectangle 13">
            <a:extLst>
              <a:ext uri="{FF2B5EF4-FFF2-40B4-BE49-F238E27FC236}">
                <a16:creationId xmlns:a16="http://schemas.microsoft.com/office/drawing/2014/main" id="{759AF1ED-B4DF-4FC4-0966-1A758E6CA9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35582" y="611650"/>
            <a:ext cx="583387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7" name="Graphic 6" descr="Presentation with Pie Chart">
            <a:extLst>
              <a:ext uri="{FF2B5EF4-FFF2-40B4-BE49-F238E27FC236}">
                <a16:creationId xmlns:a16="http://schemas.microsoft.com/office/drawing/2014/main" id="{8D05E65C-9777-1DD0-297D-9EB4CCD992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7867" y="3152503"/>
            <a:ext cx="3193501" cy="3193501"/>
          </a:xfrm>
          <a:prstGeom prst="rect">
            <a:avLst/>
          </a:prstGeom>
        </p:spPr>
      </p:pic>
      <p:sp>
        <p:nvSpPr>
          <p:cNvPr id="3" name="Content Placeholder 2">
            <a:extLst>
              <a:ext uri="{FF2B5EF4-FFF2-40B4-BE49-F238E27FC236}">
                <a16:creationId xmlns:a16="http://schemas.microsoft.com/office/drawing/2014/main" id="{92F0BD2F-706C-F068-BBF3-4CECADF6940C}"/>
              </a:ext>
            </a:extLst>
          </p:cNvPr>
          <p:cNvSpPr>
            <a:spLocks noGrp="1"/>
          </p:cNvSpPr>
          <p:nvPr>
            <p:ph idx="1"/>
          </p:nvPr>
        </p:nvSpPr>
        <p:spPr>
          <a:xfrm>
            <a:off x="5843016" y="1033272"/>
            <a:ext cx="5833872" cy="5312664"/>
          </a:xfrm>
        </p:spPr>
        <p:txBody>
          <a:bodyPr>
            <a:normAutofit/>
          </a:bodyPr>
          <a:lstStyle/>
          <a:p>
            <a:r>
              <a:rPr lang="en-US" dirty="0"/>
              <a:t>Target distribution</a:t>
            </a:r>
          </a:p>
          <a:p>
            <a:r>
              <a:rPr lang="en-US" dirty="0"/>
              <a:t>Correlation heatmap</a:t>
            </a:r>
          </a:p>
          <a:p>
            <a:r>
              <a:rPr lang="en-US" dirty="0"/>
              <a:t>Model comparison bar charts</a:t>
            </a:r>
          </a:p>
          <a:p>
            <a:r>
              <a:rPr lang="en-US" dirty="0"/>
              <a:t>Predicted-versus-actual scatter plot</a:t>
            </a:r>
          </a:p>
          <a:p>
            <a:r>
              <a:rPr lang="en-US" dirty="0"/>
              <a:t>Several visuals were added to the notebook to make the results easier to understand. These visuals helped explain the dataset, compare model performance more clearly, and show how well predictions matched actual target values.</a:t>
            </a:r>
          </a:p>
        </p:txBody>
      </p:sp>
    </p:spTree>
    <p:extLst>
      <p:ext uri="{BB962C8B-B14F-4D97-AF65-F5344CB8AC3E}">
        <p14:creationId xmlns:p14="http://schemas.microsoft.com/office/powerpoint/2010/main" val="3993850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B7ED356-5D4C-549F-94C1-A0DB4A880BEC}"/>
              </a:ext>
            </a:extLst>
          </p:cNvPr>
          <p:cNvSpPr>
            <a:spLocks noGrp="1"/>
          </p:cNvSpPr>
          <p:nvPr>
            <p:ph type="title"/>
          </p:nvPr>
        </p:nvSpPr>
        <p:spPr>
          <a:xfrm>
            <a:off x="521208" y="978408"/>
            <a:ext cx="6300216" cy="1325880"/>
          </a:xfrm>
        </p:spPr>
        <p:txBody>
          <a:bodyPr>
            <a:normAutofit/>
          </a:bodyPr>
          <a:lstStyle/>
          <a:p>
            <a:pPr>
              <a:lnSpc>
                <a:spcPct val="90000"/>
              </a:lnSpc>
            </a:pPr>
            <a:r>
              <a:rPr lang="en-US" b="0" dirty="0"/>
              <a:t>What the Diabetes Target Histogram Shows</a:t>
            </a:r>
            <a:endParaRPr lang="en-US"/>
          </a:p>
        </p:txBody>
      </p:sp>
      <p:sp>
        <p:nvSpPr>
          <p:cNvPr id="41" name="Rectangle 40">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7" name="Picture 6">
            <a:extLst>
              <a:ext uri="{FF2B5EF4-FFF2-40B4-BE49-F238E27FC236}">
                <a16:creationId xmlns:a16="http://schemas.microsoft.com/office/drawing/2014/main" id="{5877092A-23E3-9584-43C6-D70B0C0C85EE}"/>
              </a:ext>
            </a:extLst>
          </p:cNvPr>
          <p:cNvPicPr>
            <a:picLocks noChangeAspect="1"/>
          </p:cNvPicPr>
          <p:nvPr/>
        </p:nvPicPr>
        <p:blipFill>
          <a:blip r:embed="rId2"/>
          <a:stretch>
            <a:fillRect/>
          </a:stretch>
        </p:blipFill>
        <p:spPr>
          <a:xfrm>
            <a:off x="517867" y="2451207"/>
            <a:ext cx="6281928" cy="3894796"/>
          </a:xfrm>
          <a:prstGeom prst="rect">
            <a:avLst/>
          </a:prstGeom>
        </p:spPr>
      </p:pic>
      <p:sp>
        <p:nvSpPr>
          <p:cNvPr id="3" name="Content Placeholder 2">
            <a:extLst>
              <a:ext uri="{FF2B5EF4-FFF2-40B4-BE49-F238E27FC236}">
                <a16:creationId xmlns:a16="http://schemas.microsoft.com/office/drawing/2014/main" id="{7A02B470-3923-3265-6265-0D4891E645FF}"/>
              </a:ext>
            </a:extLst>
          </p:cNvPr>
          <p:cNvSpPr>
            <a:spLocks noGrp="1"/>
          </p:cNvSpPr>
          <p:nvPr>
            <p:ph idx="1"/>
          </p:nvPr>
        </p:nvSpPr>
        <p:spPr>
          <a:xfrm>
            <a:off x="7507224" y="1088136"/>
            <a:ext cx="4160520" cy="5257800"/>
          </a:xfrm>
        </p:spPr>
        <p:txBody>
          <a:bodyPr>
            <a:normAutofit/>
          </a:bodyPr>
          <a:lstStyle/>
          <a:p>
            <a:pPr>
              <a:lnSpc>
                <a:spcPct val="100000"/>
              </a:lnSpc>
            </a:pPr>
            <a:r>
              <a:rPr lang="en-US" sz="1300" dirty="0"/>
              <a:t>Target means the diabetes progression score for each patient after one year.</a:t>
            </a:r>
          </a:p>
          <a:p>
            <a:pPr>
              <a:lnSpc>
                <a:spcPct val="100000"/>
              </a:lnSpc>
            </a:pPr>
            <a:r>
              <a:rPr lang="en-US" sz="1300" dirty="0"/>
              <a:t>Each bar counts how many patients have scores in that range.</a:t>
            </a:r>
          </a:p>
          <a:p>
            <a:pPr>
              <a:lnSpc>
                <a:spcPct val="100000"/>
              </a:lnSpc>
            </a:pPr>
            <a:r>
              <a:rPr lang="en-US" sz="1300" dirty="0"/>
              <a:t>Tall bars mean lots of patients are in that score group; short bars mean only a few are there.</a:t>
            </a:r>
          </a:p>
          <a:p>
            <a:pPr>
              <a:lnSpc>
                <a:spcPct val="100000"/>
              </a:lnSpc>
            </a:pPr>
            <a:r>
              <a:rPr lang="en-US" sz="1300" dirty="0"/>
              <a:t>The smooth line helps us see where most scores are clustered.</a:t>
            </a:r>
          </a:p>
          <a:p>
            <a:pPr>
              <a:lnSpc>
                <a:spcPct val="100000"/>
              </a:lnSpc>
            </a:pPr>
            <a:r>
              <a:rPr lang="en-US" sz="1300" dirty="0"/>
              <a:t>This helps us understand what kinds of values the model is trying to predict.</a:t>
            </a:r>
          </a:p>
          <a:p>
            <a:pPr>
              <a:lnSpc>
                <a:spcPct val="100000"/>
              </a:lnSpc>
            </a:pPr>
            <a:r>
              <a:rPr lang="en-US" sz="1300" dirty="0"/>
              <a:t>This graph is like sorting test scores into groups. Instead of grades, we are grouping diabetes progression scores to see where most patients land.</a:t>
            </a:r>
          </a:p>
          <a:p>
            <a:pPr>
              <a:lnSpc>
                <a:spcPct val="100000"/>
              </a:lnSpc>
            </a:pPr>
            <a:r>
              <a:rPr lang="en-US" sz="1300" dirty="0"/>
              <a:t>The target is the number we want the computer to predict, and in this project that number is the diabetes progression score. The histogram helps us quickly see whether most patients have middle scores, or whether a lot of them are very low or very high.</a:t>
            </a:r>
          </a:p>
          <a:p>
            <a:pPr>
              <a:lnSpc>
                <a:spcPct val="100000"/>
              </a:lnSpc>
            </a:pPr>
            <a:r>
              <a:rPr lang="en-US" sz="1300" dirty="0"/>
              <a:t>This chart shows how common different diabetes progression scores are in the dataset.</a:t>
            </a:r>
          </a:p>
          <a:p>
            <a:pPr marL="0" indent="0">
              <a:lnSpc>
                <a:spcPct val="100000"/>
              </a:lnSpc>
              <a:buNone/>
            </a:pPr>
            <a:endParaRPr lang="en-US" sz="1300" dirty="0"/>
          </a:p>
        </p:txBody>
      </p:sp>
    </p:spTree>
    <p:extLst>
      <p:ext uri="{BB962C8B-B14F-4D97-AF65-F5344CB8AC3E}">
        <p14:creationId xmlns:p14="http://schemas.microsoft.com/office/powerpoint/2010/main" val="258806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3610D3-8477-FC13-B75D-207EE0F5F1CB}"/>
              </a:ext>
            </a:extLst>
          </p:cNvPr>
          <p:cNvSpPr>
            <a:spLocks noGrp="1"/>
          </p:cNvSpPr>
          <p:nvPr>
            <p:ph type="title"/>
          </p:nvPr>
        </p:nvSpPr>
        <p:spPr>
          <a:xfrm>
            <a:off x="6153912" y="978408"/>
            <a:ext cx="5513832" cy="1463040"/>
          </a:xfrm>
        </p:spPr>
        <p:txBody>
          <a:bodyPr>
            <a:normAutofit/>
          </a:bodyPr>
          <a:lstStyle/>
          <a:p>
            <a:pPr>
              <a:lnSpc>
                <a:spcPct val="90000"/>
              </a:lnSpc>
            </a:pPr>
            <a:r>
              <a:rPr lang="en-US" sz="3400" b="0"/>
              <a:t>What the Feature Correlation Heatmap Shows</a:t>
            </a:r>
            <a:endParaRPr lang="en-US" sz="3400"/>
          </a:p>
        </p:txBody>
      </p:sp>
      <p:pic>
        <p:nvPicPr>
          <p:cNvPr id="5" name="Picture 4">
            <a:extLst>
              <a:ext uri="{FF2B5EF4-FFF2-40B4-BE49-F238E27FC236}">
                <a16:creationId xmlns:a16="http://schemas.microsoft.com/office/drawing/2014/main" id="{A004799D-7E38-9E5C-DCFE-9668026E83F4}"/>
              </a:ext>
            </a:extLst>
          </p:cNvPr>
          <p:cNvPicPr>
            <a:picLocks noChangeAspect="1"/>
          </p:cNvPicPr>
          <p:nvPr/>
        </p:nvPicPr>
        <p:blipFill>
          <a:blip r:embed="rId2"/>
          <a:stretch>
            <a:fillRect/>
          </a:stretch>
        </p:blipFill>
        <p:spPr>
          <a:xfrm>
            <a:off x="517867" y="1325325"/>
            <a:ext cx="4959823" cy="4203449"/>
          </a:xfrm>
          <a:prstGeom prst="rect">
            <a:avLst/>
          </a:prstGeom>
        </p:spPr>
      </p:pic>
      <p:sp>
        <p:nvSpPr>
          <p:cNvPr id="12" name="Freeform: Shape 11">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58484" y="508090"/>
            <a:ext cx="5513832"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AF430F30-B9E1-8A5C-C53A-3D375FDA792F}"/>
              </a:ext>
            </a:extLst>
          </p:cNvPr>
          <p:cNvSpPr>
            <a:spLocks noGrp="1"/>
          </p:cNvSpPr>
          <p:nvPr>
            <p:ph idx="1"/>
          </p:nvPr>
        </p:nvSpPr>
        <p:spPr>
          <a:xfrm>
            <a:off x="6153912" y="2578608"/>
            <a:ext cx="5513832" cy="3767328"/>
          </a:xfrm>
        </p:spPr>
        <p:txBody>
          <a:bodyPr>
            <a:normAutofit/>
          </a:bodyPr>
          <a:lstStyle/>
          <a:p>
            <a:pPr>
              <a:lnSpc>
                <a:spcPct val="100000"/>
              </a:lnSpc>
            </a:pPr>
            <a:r>
              <a:rPr lang="en-US" sz="1300" dirty="0"/>
              <a:t>It compares every feature with every other feature in the dataset.</a:t>
            </a:r>
          </a:p>
          <a:p>
            <a:pPr>
              <a:lnSpc>
                <a:spcPct val="100000"/>
              </a:lnSpc>
            </a:pPr>
            <a:r>
              <a:rPr lang="en-US" sz="1300" dirty="0"/>
              <a:t>The colors and numbers show how strongly the columns are related.</a:t>
            </a:r>
          </a:p>
          <a:p>
            <a:pPr>
              <a:lnSpc>
                <a:spcPct val="100000"/>
              </a:lnSpc>
            </a:pPr>
            <a:r>
              <a:rPr lang="en-US" sz="1300" dirty="0"/>
              <a:t>Bigger positive numbers mean they rise together; negative numbers mean one rises while the other falls.</a:t>
            </a:r>
          </a:p>
          <a:p>
            <a:pPr>
              <a:lnSpc>
                <a:spcPct val="100000"/>
              </a:lnSpc>
            </a:pPr>
            <a:r>
              <a:rPr lang="en-US" sz="1300" dirty="0"/>
              <a:t>It helps us find which features connect most with the diabetes target value.</a:t>
            </a:r>
          </a:p>
          <a:p>
            <a:pPr>
              <a:lnSpc>
                <a:spcPct val="100000"/>
              </a:lnSpc>
            </a:pPr>
            <a:r>
              <a:rPr lang="en-US" sz="1300" dirty="0"/>
              <a:t>It also helps us notice if some features are very similar to each other.</a:t>
            </a:r>
          </a:p>
          <a:p>
            <a:pPr>
              <a:lnSpc>
                <a:spcPct val="100000"/>
              </a:lnSpc>
            </a:pPr>
            <a:r>
              <a:rPr lang="en-US" sz="1300" dirty="0"/>
              <a:t>The heatmap helps us see patterns before building the model. If a feature has a stronger correlation with the target, it may be more useful for prediction, and if two features are very strongly related to each other, they may be giving similar information.</a:t>
            </a:r>
          </a:p>
          <a:p>
            <a:pPr>
              <a:lnSpc>
                <a:spcPct val="100000"/>
              </a:lnSpc>
            </a:pPr>
            <a:r>
              <a:rPr lang="en-US" sz="1300" dirty="0"/>
              <a:t>This heatmap shows which features are most connected to each other and to the diabetes target.</a:t>
            </a:r>
            <a:br>
              <a:rPr lang="en-US" sz="1300" dirty="0"/>
            </a:br>
            <a:endParaRPr lang="en-US" sz="1300" dirty="0"/>
          </a:p>
        </p:txBody>
      </p:sp>
    </p:spTree>
    <p:extLst>
      <p:ext uri="{BB962C8B-B14F-4D97-AF65-F5344CB8AC3E}">
        <p14:creationId xmlns:p14="http://schemas.microsoft.com/office/powerpoint/2010/main" val="3588133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FF22591-E014-4C34-1803-370D2D562D36}"/>
              </a:ext>
            </a:extLst>
          </p:cNvPr>
          <p:cNvSpPr>
            <a:spLocks noGrp="1"/>
          </p:cNvSpPr>
          <p:nvPr>
            <p:ph type="title"/>
          </p:nvPr>
        </p:nvSpPr>
        <p:spPr>
          <a:xfrm>
            <a:off x="521208" y="978408"/>
            <a:ext cx="6300216" cy="1325880"/>
          </a:xfrm>
        </p:spPr>
        <p:txBody>
          <a:bodyPr>
            <a:normAutofit/>
          </a:bodyPr>
          <a:lstStyle/>
          <a:p>
            <a:pPr>
              <a:lnSpc>
                <a:spcPct val="90000"/>
              </a:lnSpc>
            </a:pPr>
            <a:r>
              <a:rPr lang="en-US"/>
              <a:t>Validation vs Test R² by Model</a:t>
            </a:r>
          </a:p>
        </p:txBody>
      </p:sp>
      <p:sp>
        <p:nvSpPr>
          <p:cNvPr id="12" name="Rectangle 11">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Picture 4">
            <a:extLst>
              <a:ext uri="{FF2B5EF4-FFF2-40B4-BE49-F238E27FC236}">
                <a16:creationId xmlns:a16="http://schemas.microsoft.com/office/drawing/2014/main" id="{96D4640D-81A0-5818-4E00-42B884769E2C}"/>
              </a:ext>
            </a:extLst>
          </p:cNvPr>
          <p:cNvPicPr>
            <a:picLocks noChangeAspect="1"/>
          </p:cNvPicPr>
          <p:nvPr/>
        </p:nvPicPr>
        <p:blipFill>
          <a:blip r:embed="rId2"/>
          <a:stretch>
            <a:fillRect/>
          </a:stretch>
        </p:blipFill>
        <p:spPr>
          <a:xfrm>
            <a:off x="517867" y="3126515"/>
            <a:ext cx="6281928" cy="3219489"/>
          </a:xfrm>
          <a:prstGeom prst="rect">
            <a:avLst/>
          </a:prstGeom>
        </p:spPr>
      </p:pic>
      <p:sp>
        <p:nvSpPr>
          <p:cNvPr id="3" name="Content Placeholder 2">
            <a:extLst>
              <a:ext uri="{FF2B5EF4-FFF2-40B4-BE49-F238E27FC236}">
                <a16:creationId xmlns:a16="http://schemas.microsoft.com/office/drawing/2014/main" id="{BD7CE586-1316-F666-50D4-FD9AE21CE215}"/>
              </a:ext>
            </a:extLst>
          </p:cNvPr>
          <p:cNvSpPr>
            <a:spLocks noGrp="1"/>
          </p:cNvSpPr>
          <p:nvPr>
            <p:ph idx="1"/>
          </p:nvPr>
        </p:nvSpPr>
        <p:spPr>
          <a:xfrm>
            <a:off x="7507224" y="1088136"/>
            <a:ext cx="4160520" cy="5257800"/>
          </a:xfrm>
        </p:spPr>
        <p:txBody>
          <a:bodyPr>
            <a:normAutofit/>
          </a:bodyPr>
          <a:lstStyle/>
          <a:p>
            <a:pPr>
              <a:lnSpc>
                <a:spcPct val="100000"/>
              </a:lnSpc>
            </a:pPr>
            <a:r>
              <a:rPr lang="en-US" sz="1500" dirty="0"/>
              <a:t>This chart compares how well each model worked on practice data and new data.</a:t>
            </a:r>
          </a:p>
          <a:p>
            <a:pPr>
              <a:lnSpc>
                <a:spcPct val="100000"/>
              </a:lnSpc>
            </a:pPr>
            <a:r>
              <a:rPr lang="en-US" sz="1500" b="1" dirty="0"/>
              <a:t>Validation R²</a:t>
            </a:r>
            <a:r>
              <a:rPr lang="en-US" sz="1500" dirty="0"/>
              <a:t> shows how good the model was during checking, and </a:t>
            </a:r>
            <a:r>
              <a:rPr lang="en-US" sz="1500" b="1" dirty="0"/>
              <a:t>Test R²</a:t>
            </a:r>
            <a:r>
              <a:rPr lang="en-US" sz="1500" dirty="0"/>
              <a:t> shows how good it was on data it had not seen before.</a:t>
            </a:r>
          </a:p>
          <a:p>
            <a:pPr>
              <a:lnSpc>
                <a:spcPct val="100000"/>
              </a:lnSpc>
            </a:pPr>
            <a:r>
              <a:rPr lang="en-US" sz="1500" dirty="0"/>
              <a:t>A higher R² score means the model made better predictions.</a:t>
            </a:r>
          </a:p>
          <a:p>
            <a:pPr>
              <a:lnSpc>
                <a:spcPct val="100000"/>
              </a:lnSpc>
            </a:pPr>
            <a:r>
              <a:rPr lang="en-US" sz="1500" dirty="0"/>
              <a:t>In this project, </a:t>
            </a:r>
            <a:r>
              <a:rPr lang="en-US" sz="1500" b="1" dirty="0"/>
              <a:t>Linear Regression</a:t>
            </a:r>
            <a:r>
              <a:rPr lang="en-US" sz="1500" dirty="0"/>
              <a:t> did best on validation data, but </a:t>
            </a:r>
            <a:r>
              <a:rPr lang="en-US" sz="1500" b="1" dirty="0"/>
              <a:t>Random Forest</a:t>
            </a:r>
            <a:r>
              <a:rPr lang="en-US" sz="1500" dirty="0"/>
              <a:t> did best on test data, which means it handled new data better.</a:t>
            </a:r>
          </a:p>
          <a:p>
            <a:pPr>
              <a:lnSpc>
                <a:spcPct val="100000"/>
              </a:lnSpc>
            </a:pPr>
            <a:r>
              <a:rPr lang="en-US" sz="1500" b="1" dirty="0"/>
              <a:t>This chart helps us compare model performance. Higher R² means better predictions. Linear Regression looked strongest at first, but Random Forest was better on the final test, so it was more reliable on new data.</a:t>
            </a:r>
            <a:endParaRPr lang="en-US" sz="1500" dirty="0"/>
          </a:p>
          <a:p>
            <a:pPr marL="0" indent="0">
              <a:lnSpc>
                <a:spcPct val="100000"/>
              </a:lnSpc>
              <a:buNone/>
            </a:pPr>
            <a:endParaRPr lang="en-US" sz="1500" dirty="0"/>
          </a:p>
        </p:txBody>
      </p:sp>
    </p:spTree>
    <p:extLst>
      <p:ext uri="{BB962C8B-B14F-4D97-AF65-F5344CB8AC3E}">
        <p14:creationId xmlns:p14="http://schemas.microsoft.com/office/powerpoint/2010/main" val="369290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D6C7A1E-9E65-3333-3B40-78DE00D67196}"/>
              </a:ext>
            </a:extLst>
          </p:cNvPr>
          <p:cNvSpPr>
            <a:spLocks noGrp="1"/>
          </p:cNvSpPr>
          <p:nvPr>
            <p:ph type="title"/>
          </p:nvPr>
        </p:nvSpPr>
        <p:spPr>
          <a:xfrm>
            <a:off x="521208" y="978408"/>
            <a:ext cx="6300216" cy="1325880"/>
          </a:xfrm>
        </p:spPr>
        <p:txBody>
          <a:bodyPr>
            <a:normAutofit/>
          </a:bodyPr>
          <a:lstStyle/>
          <a:p>
            <a:pPr>
              <a:lnSpc>
                <a:spcPct val="90000"/>
              </a:lnSpc>
            </a:pPr>
            <a:r>
              <a:rPr lang="en-US" dirty="0"/>
              <a:t>Validation vs Test MSE by Model</a:t>
            </a:r>
            <a:endParaRPr lang="en-US"/>
          </a:p>
        </p:txBody>
      </p:sp>
      <p:sp>
        <p:nvSpPr>
          <p:cNvPr id="16" name="Rectangle 15">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Picture 4">
            <a:extLst>
              <a:ext uri="{FF2B5EF4-FFF2-40B4-BE49-F238E27FC236}">
                <a16:creationId xmlns:a16="http://schemas.microsoft.com/office/drawing/2014/main" id="{978495B9-7F6A-B35E-11F1-D4DDCE7B434A}"/>
              </a:ext>
            </a:extLst>
          </p:cNvPr>
          <p:cNvPicPr>
            <a:picLocks noChangeAspect="1"/>
          </p:cNvPicPr>
          <p:nvPr/>
        </p:nvPicPr>
        <p:blipFill>
          <a:blip r:embed="rId2"/>
          <a:stretch>
            <a:fillRect/>
          </a:stretch>
        </p:blipFill>
        <p:spPr>
          <a:xfrm>
            <a:off x="517867" y="3299269"/>
            <a:ext cx="6281928" cy="3046735"/>
          </a:xfrm>
          <a:prstGeom prst="rect">
            <a:avLst/>
          </a:prstGeom>
        </p:spPr>
      </p:pic>
      <p:sp>
        <p:nvSpPr>
          <p:cNvPr id="3" name="Content Placeholder 2">
            <a:extLst>
              <a:ext uri="{FF2B5EF4-FFF2-40B4-BE49-F238E27FC236}">
                <a16:creationId xmlns:a16="http://schemas.microsoft.com/office/drawing/2014/main" id="{2E2F2F00-85C8-B425-CFDD-B5E9BAEAF347}"/>
              </a:ext>
            </a:extLst>
          </p:cNvPr>
          <p:cNvSpPr>
            <a:spLocks noGrp="1"/>
          </p:cNvSpPr>
          <p:nvPr>
            <p:ph idx="1"/>
          </p:nvPr>
        </p:nvSpPr>
        <p:spPr>
          <a:xfrm>
            <a:off x="7507224" y="1088136"/>
            <a:ext cx="4160520" cy="5257800"/>
          </a:xfrm>
        </p:spPr>
        <p:txBody>
          <a:bodyPr>
            <a:normAutofit/>
          </a:bodyPr>
          <a:lstStyle/>
          <a:p>
            <a:pPr>
              <a:lnSpc>
                <a:spcPct val="100000"/>
              </a:lnSpc>
            </a:pPr>
            <a:r>
              <a:rPr lang="en-US" sz="1300" dirty="0"/>
              <a:t>This chart shows how much error each model made on practice data and new data.</a:t>
            </a:r>
          </a:p>
          <a:p>
            <a:pPr>
              <a:lnSpc>
                <a:spcPct val="100000"/>
              </a:lnSpc>
            </a:pPr>
            <a:r>
              <a:rPr lang="en-US" sz="1300" b="1" dirty="0"/>
              <a:t>MSE</a:t>
            </a:r>
            <a:r>
              <a:rPr lang="en-US" sz="1300" dirty="0"/>
              <a:t> means Mean Squared Error, which is a way to measure how far the predictions were from the real answers.</a:t>
            </a:r>
          </a:p>
          <a:p>
            <a:pPr>
              <a:lnSpc>
                <a:spcPct val="100000"/>
              </a:lnSpc>
            </a:pPr>
            <a:r>
              <a:rPr lang="en-US" sz="1300" dirty="0"/>
              <a:t>A </a:t>
            </a:r>
            <a:r>
              <a:rPr lang="en-US" sz="1300" b="1" dirty="0"/>
              <a:t>lower MSE</a:t>
            </a:r>
            <a:r>
              <a:rPr lang="en-US" sz="1300" dirty="0"/>
              <a:t> is better because it means the model made fewer mistakes.</a:t>
            </a:r>
          </a:p>
          <a:p>
            <a:pPr>
              <a:lnSpc>
                <a:spcPct val="100000"/>
              </a:lnSpc>
            </a:pPr>
            <a:r>
              <a:rPr lang="en-US" sz="1300" dirty="0"/>
              <a:t>In this project, </a:t>
            </a:r>
            <a:r>
              <a:rPr lang="en-US" sz="1300" b="1" dirty="0"/>
              <a:t>Linear Regression</a:t>
            </a:r>
            <a:r>
              <a:rPr lang="en-US" sz="1300" dirty="0"/>
              <a:t> had the lowest validation MSE, but </a:t>
            </a:r>
            <a:r>
              <a:rPr lang="en-US" sz="1300" b="1" dirty="0"/>
              <a:t>Random Forest</a:t>
            </a:r>
            <a:r>
              <a:rPr lang="en-US" sz="1300" dirty="0"/>
              <a:t> had the lowest test MSE, so it did better on new data.</a:t>
            </a:r>
          </a:p>
          <a:p>
            <a:pPr>
              <a:lnSpc>
                <a:spcPct val="100000"/>
              </a:lnSpc>
            </a:pPr>
            <a:r>
              <a:rPr lang="en-US" sz="1300" b="1" dirty="0"/>
              <a:t>This graph shows prediction mistakes for each model. Lower MSE means better predictions, and Random Forest made the fewest mistakes on the test data.</a:t>
            </a:r>
            <a:endParaRPr lang="en-US" sz="1300" dirty="0"/>
          </a:p>
          <a:p>
            <a:pPr>
              <a:lnSpc>
                <a:spcPct val="100000"/>
              </a:lnSpc>
            </a:pPr>
            <a:r>
              <a:rPr lang="en-US" sz="1300" b="1" dirty="0"/>
              <a:t>This chart compares how much error each model made. Lower MSE means the predictions were closer to the real values. Linear Regression looked best during validation, but Random Forest had the lowest error on the final test, so it handled new data better</a:t>
            </a:r>
            <a:br>
              <a:rPr lang="en-US" sz="1300" dirty="0"/>
            </a:br>
            <a:endParaRPr lang="en-US" sz="1300" dirty="0"/>
          </a:p>
        </p:txBody>
      </p:sp>
    </p:spTree>
    <p:extLst>
      <p:ext uri="{BB962C8B-B14F-4D97-AF65-F5344CB8AC3E}">
        <p14:creationId xmlns:p14="http://schemas.microsoft.com/office/powerpoint/2010/main" val="2342268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1B347C07-9E02-70D4-BD05-51E8E7695A53}"/>
              </a:ext>
            </a:extLst>
          </p:cNvPr>
          <p:cNvSpPr>
            <a:spLocks noGrp="1"/>
          </p:cNvSpPr>
          <p:nvPr>
            <p:ph type="title"/>
          </p:nvPr>
        </p:nvSpPr>
        <p:spPr>
          <a:xfrm>
            <a:off x="6995160" y="978408"/>
            <a:ext cx="4745736" cy="1463040"/>
          </a:xfrm>
        </p:spPr>
        <p:txBody>
          <a:bodyPr>
            <a:normAutofit/>
          </a:bodyPr>
          <a:lstStyle/>
          <a:p>
            <a:pPr>
              <a:lnSpc>
                <a:spcPct val="90000"/>
              </a:lnSpc>
            </a:pPr>
            <a:r>
              <a:rPr lang="en-US" sz="3100"/>
              <a:t>Predicted vs Actual Values (Random Forest)</a:t>
            </a:r>
          </a:p>
        </p:txBody>
      </p:sp>
      <p:pic>
        <p:nvPicPr>
          <p:cNvPr id="5" name="Picture 4">
            <a:extLst>
              <a:ext uri="{FF2B5EF4-FFF2-40B4-BE49-F238E27FC236}">
                <a16:creationId xmlns:a16="http://schemas.microsoft.com/office/drawing/2014/main" id="{0BF373FC-4E98-9D01-B783-2E867D7D2530}"/>
              </a:ext>
            </a:extLst>
          </p:cNvPr>
          <p:cNvPicPr>
            <a:picLocks noChangeAspect="1"/>
          </p:cNvPicPr>
          <p:nvPr/>
        </p:nvPicPr>
        <p:blipFill>
          <a:blip r:embed="rId2"/>
          <a:srcRect l="3907" r="6558" b="1"/>
          <a:stretch>
            <a:fillRect/>
          </a:stretch>
        </p:blipFill>
        <p:spPr>
          <a:xfrm>
            <a:off x="517868" y="508090"/>
            <a:ext cx="5705856" cy="5846990"/>
          </a:xfrm>
          <a:prstGeom prst="rect">
            <a:avLst/>
          </a:prstGeom>
        </p:spPr>
      </p:pic>
      <p:sp>
        <p:nvSpPr>
          <p:cNvPr id="12" name="Freeform: Shape 11">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6407" y="508090"/>
            <a:ext cx="4660733"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Content Placeholder 2">
            <a:extLst>
              <a:ext uri="{FF2B5EF4-FFF2-40B4-BE49-F238E27FC236}">
                <a16:creationId xmlns:a16="http://schemas.microsoft.com/office/drawing/2014/main" id="{0DA91AE4-E1F2-B84E-2073-FF87961F3181}"/>
              </a:ext>
            </a:extLst>
          </p:cNvPr>
          <p:cNvSpPr>
            <a:spLocks noGrp="1"/>
          </p:cNvSpPr>
          <p:nvPr>
            <p:ph idx="1"/>
          </p:nvPr>
        </p:nvSpPr>
        <p:spPr>
          <a:xfrm>
            <a:off x="6995160" y="2578608"/>
            <a:ext cx="4672584" cy="3767328"/>
          </a:xfrm>
        </p:spPr>
        <p:txBody>
          <a:bodyPr>
            <a:normAutofit/>
          </a:bodyPr>
          <a:lstStyle/>
          <a:p>
            <a:pPr>
              <a:lnSpc>
                <a:spcPct val="100000"/>
              </a:lnSpc>
            </a:pPr>
            <a:r>
              <a:rPr lang="en-US" sz="1100"/>
              <a:t>This graph compares the </a:t>
            </a:r>
            <a:r>
              <a:rPr lang="en-US" sz="1100" b="1"/>
              <a:t>real values</a:t>
            </a:r>
            <a:r>
              <a:rPr lang="en-US" sz="1100"/>
              <a:t> to the values predicted by the Random Forest model.</a:t>
            </a:r>
          </a:p>
          <a:p>
            <a:pPr>
              <a:lnSpc>
                <a:spcPct val="100000"/>
              </a:lnSpc>
            </a:pPr>
            <a:r>
              <a:rPr lang="en-US" sz="1100"/>
              <a:t>Each dot is one example from the test data.</a:t>
            </a:r>
          </a:p>
          <a:p>
            <a:pPr>
              <a:lnSpc>
                <a:spcPct val="100000"/>
              </a:lnSpc>
            </a:pPr>
            <a:r>
              <a:rPr lang="en-US" sz="1100"/>
              <a:t>If a dot is close to the red line, the prediction was close to the real answer.</a:t>
            </a:r>
          </a:p>
          <a:p>
            <a:pPr>
              <a:lnSpc>
                <a:spcPct val="100000"/>
              </a:lnSpc>
            </a:pPr>
            <a:r>
              <a:rPr lang="en-US" sz="1100"/>
              <a:t>Since many dots are near the line, the Random Forest model made </a:t>
            </a:r>
            <a:r>
              <a:rPr lang="en-US" sz="1100" b="1"/>
              <a:t>fairly accurate predictions</a:t>
            </a:r>
            <a:r>
              <a:rPr lang="en-US" sz="1100"/>
              <a:t>, even though some points are farther away.</a:t>
            </a:r>
          </a:p>
          <a:p>
            <a:pPr>
              <a:lnSpc>
                <a:spcPct val="100000"/>
              </a:lnSpc>
            </a:pPr>
            <a:r>
              <a:rPr lang="en-US" sz="1100" b="1"/>
              <a:t>This scatter plot shows how close Random Forest predictions were to the real values. Dots near the red line mean better predictions</a:t>
            </a:r>
          </a:p>
          <a:p>
            <a:pPr>
              <a:lnSpc>
                <a:spcPct val="100000"/>
              </a:lnSpc>
            </a:pPr>
            <a:r>
              <a:rPr lang="en-US" sz="1100" b="1"/>
              <a:t>This graph checks how well Random Forest predicted the real outcomes. Each dot is one test example. When dots stay close to the red line, it means the model’s predictions were accurate. Since many dots are near the line, the model did a pretty good job.</a:t>
            </a:r>
            <a:endParaRPr lang="en-US" sz="1100"/>
          </a:p>
        </p:txBody>
      </p:sp>
    </p:spTree>
    <p:extLst>
      <p:ext uri="{BB962C8B-B14F-4D97-AF65-F5344CB8AC3E}">
        <p14:creationId xmlns:p14="http://schemas.microsoft.com/office/powerpoint/2010/main" val="3349563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2EAD6B9D-05C9-2167-697D-9A6ABF628A9E}"/>
              </a:ext>
            </a:extLst>
          </p:cNvPr>
          <p:cNvSpPr>
            <a:spLocks noGrp="1"/>
          </p:cNvSpPr>
          <p:nvPr>
            <p:ph type="title"/>
          </p:nvPr>
        </p:nvSpPr>
        <p:spPr>
          <a:xfrm>
            <a:off x="521208" y="978408"/>
            <a:ext cx="4672584" cy="1783080"/>
          </a:xfrm>
        </p:spPr>
        <p:txBody>
          <a:bodyPr>
            <a:normAutofit/>
          </a:bodyPr>
          <a:lstStyle/>
          <a:p>
            <a:pPr>
              <a:lnSpc>
                <a:spcPct val="90000"/>
              </a:lnSpc>
            </a:pPr>
            <a:r>
              <a:rPr lang="en-US" sz="4100" b="0"/>
              <a:t>Limitations and Future Improvements</a:t>
            </a:r>
            <a:endParaRPr lang="en-US" sz="4100"/>
          </a:p>
        </p:txBody>
      </p:sp>
      <p:sp>
        <p:nvSpPr>
          <p:cNvPr id="12" name="Rectangle 11">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7258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4" name="Rectangle 13">
            <a:extLst>
              <a:ext uri="{FF2B5EF4-FFF2-40B4-BE49-F238E27FC236}">
                <a16:creationId xmlns:a16="http://schemas.microsoft.com/office/drawing/2014/main" id="{759AF1ED-B4DF-4FC4-0966-1A758E6CA9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35582" y="611650"/>
            <a:ext cx="583387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7" name="Graphic 6" descr="Robot">
            <a:extLst>
              <a:ext uri="{FF2B5EF4-FFF2-40B4-BE49-F238E27FC236}">
                <a16:creationId xmlns:a16="http://schemas.microsoft.com/office/drawing/2014/main" id="{E7073EAC-1B3B-68CD-AE72-3B8E484F28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7867" y="3152503"/>
            <a:ext cx="3193501" cy="3193501"/>
          </a:xfrm>
          <a:prstGeom prst="rect">
            <a:avLst/>
          </a:prstGeom>
        </p:spPr>
      </p:pic>
      <p:sp>
        <p:nvSpPr>
          <p:cNvPr id="3" name="Content Placeholder 2">
            <a:extLst>
              <a:ext uri="{FF2B5EF4-FFF2-40B4-BE49-F238E27FC236}">
                <a16:creationId xmlns:a16="http://schemas.microsoft.com/office/drawing/2014/main" id="{D6A2A46F-CFFD-A496-7848-7DDC1368E7BA}"/>
              </a:ext>
            </a:extLst>
          </p:cNvPr>
          <p:cNvSpPr>
            <a:spLocks noGrp="1"/>
          </p:cNvSpPr>
          <p:nvPr>
            <p:ph idx="1"/>
          </p:nvPr>
        </p:nvSpPr>
        <p:spPr>
          <a:xfrm>
            <a:off x="5843016" y="1033272"/>
            <a:ext cx="5833872" cy="5312664"/>
          </a:xfrm>
        </p:spPr>
        <p:txBody>
          <a:bodyPr>
            <a:normAutofit/>
          </a:bodyPr>
          <a:lstStyle/>
          <a:p>
            <a:r>
              <a:rPr lang="en-US" dirty="0"/>
              <a:t>Results were based on one train, validation, and test split.</a:t>
            </a:r>
          </a:p>
          <a:p>
            <a:r>
              <a:rPr lang="en-US" dirty="0"/>
              <a:t>Performance could change slightly with a different split.</a:t>
            </a:r>
          </a:p>
          <a:p>
            <a:r>
              <a:rPr lang="en-US" dirty="0"/>
              <a:t>Future work could use cross-validation, hyperparameter tuning, and feature engineering.</a:t>
            </a:r>
          </a:p>
          <a:p>
            <a:r>
              <a:rPr lang="en-US" dirty="0"/>
              <a:t>More advanced ensemble methods or additional regression datasets could also be tested.</a:t>
            </a:r>
          </a:p>
          <a:p>
            <a:r>
              <a:rPr lang="en-US" dirty="0"/>
              <a:t>This project produced useful results, but there are still ways to improve it. Future work could include cross-validation, hyperparameter tuning, feature engineering, and testing whether the same models perform well on other regression datasets.</a:t>
            </a:r>
          </a:p>
        </p:txBody>
      </p:sp>
    </p:spTree>
    <p:extLst>
      <p:ext uri="{BB962C8B-B14F-4D97-AF65-F5344CB8AC3E}">
        <p14:creationId xmlns:p14="http://schemas.microsoft.com/office/powerpoint/2010/main" val="3763966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A5028719-B871-8AD2-5E4E-7F8A352E71E9}"/>
              </a:ext>
            </a:extLst>
          </p:cNvPr>
          <p:cNvSpPr>
            <a:spLocks noGrp="1"/>
          </p:cNvSpPr>
          <p:nvPr>
            <p:ph type="title"/>
          </p:nvPr>
        </p:nvSpPr>
        <p:spPr>
          <a:xfrm>
            <a:off x="521208" y="978408"/>
            <a:ext cx="4672584" cy="1783080"/>
          </a:xfrm>
        </p:spPr>
        <p:txBody>
          <a:bodyPr>
            <a:normAutofit/>
          </a:bodyPr>
          <a:lstStyle/>
          <a:p>
            <a:r>
              <a:rPr lang="en-US" b="0" dirty="0"/>
              <a:t>Conclusion</a:t>
            </a:r>
            <a:endParaRPr lang="en-US" dirty="0"/>
          </a:p>
        </p:txBody>
      </p:sp>
      <p:sp>
        <p:nvSpPr>
          <p:cNvPr id="12" name="Rectangle 11">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7258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4" name="Rectangle 13">
            <a:extLst>
              <a:ext uri="{FF2B5EF4-FFF2-40B4-BE49-F238E27FC236}">
                <a16:creationId xmlns:a16="http://schemas.microsoft.com/office/drawing/2014/main" id="{759AF1ED-B4DF-4FC4-0966-1A758E6CA9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35582" y="611650"/>
            <a:ext cx="583387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7" name="Graphic 6" descr="Fingerprint">
            <a:extLst>
              <a:ext uri="{FF2B5EF4-FFF2-40B4-BE49-F238E27FC236}">
                <a16:creationId xmlns:a16="http://schemas.microsoft.com/office/drawing/2014/main" id="{E16149C6-2A1E-7AF3-AF1D-9FA1440A0C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7867" y="3152503"/>
            <a:ext cx="3193501" cy="3193501"/>
          </a:xfrm>
          <a:prstGeom prst="rect">
            <a:avLst/>
          </a:prstGeom>
        </p:spPr>
      </p:pic>
      <p:sp>
        <p:nvSpPr>
          <p:cNvPr id="3" name="Content Placeholder 2">
            <a:extLst>
              <a:ext uri="{FF2B5EF4-FFF2-40B4-BE49-F238E27FC236}">
                <a16:creationId xmlns:a16="http://schemas.microsoft.com/office/drawing/2014/main" id="{C88312B6-F37C-377B-A931-B1DA3D8EA257}"/>
              </a:ext>
            </a:extLst>
          </p:cNvPr>
          <p:cNvSpPr>
            <a:spLocks noGrp="1"/>
          </p:cNvSpPr>
          <p:nvPr>
            <p:ph idx="1"/>
          </p:nvPr>
        </p:nvSpPr>
        <p:spPr>
          <a:xfrm>
            <a:off x="5843016" y="1033272"/>
            <a:ext cx="5833872" cy="5312664"/>
          </a:xfrm>
        </p:spPr>
        <p:txBody>
          <a:bodyPr>
            <a:normAutofit/>
          </a:bodyPr>
          <a:lstStyle/>
          <a:p>
            <a:r>
              <a:rPr lang="en-US" dirty="0"/>
              <a:t>The project successfully trained and compared multiple regression models.</a:t>
            </a:r>
          </a:p>
          <a:p>
            <a:r>
              <a:rPr lang="en-US" dirty="0"/>
              <a:t>Linear Regression performed best on validation data.</a:t>
            </a:r>
          </a:p>
          <a:p>
            <a:r>
              <a:rPr lang="en-US" dirty="0"/>
              <a:t>Random Forest performed best on the final test set.</a:t>
            </a:r>
          </a:p>
          <a:p>
            <a:r>
              <a:rPr lang="en-US" dirty="0"/>
              <a:t>Voting_Top3 was also strong and came close to Random Forest.</a:t>
            </a:r>
          </a:p>
          <a:p>
            <a:r>
              <a:rPr lang="en-US" dirty="0"/>
              <a:t>The project completed preprocessing, training, validation, </a:t>
            </a:r>
            <a:r>
              <a:rPr lang="en-US" dirty="0" err="1"/>
              <a:t>ensembling</a:t>
            </a:r>
            <a:r>
              <a:rPr lang="en-US" dirty="0"/>
              <a:t>, and final analysis successfully.</a:t>
            </a:r>
          </a:p>
          <a:p>
            <a:r>
              <a:rPr lang="en-US" dirty="0"/>
              <a:t>Overall, this project met the required regression workflow and clearly showed the strengths of different models. Linear Regression was best during model selection, but Random Forest was the strongest final model, and the Voting_Top3 ensemble also gave very competitive results.</a:t>
            </a:r>
          </a:p>
        </p:txBody>
      </p:sp>
    </p:spTree>
    <p:extLst>
      <p:ext uri="{BB962C8B-B14F-4D97-AF65-F5344CB8AC3E}">
        <p14:creationId xmlns:p14="http://schemas.microsoft.com/office/powerpoint/2010/main" val="1331755069"/>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117</TotalTime>
  <Words>1655</Words>
  <Application>Microsoft Office PowerPoint</Application>
  <PresentationFormat>Widescreen</PresentationFormat>
  <Paragraphs>105</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Bierstadt</vt:lpstr>
      <vt:lpstr>GestaltVTI</vt:lpstr>
      <vt:lpstr>Diabetes Progression Prediction Using Regression Models</vt:lpstr>
      <vt:lpstr>Project Goal and Data</vt:lpstr>
      <vt:lpstr>Models Used</vt:lpstr>
      <vt:lpstr>Evaluation Metrics</vt:lpstr>
      <vt:lpstr>Results per Model  This table summarizes the validation and test performance for all eight models in the project. It shows that several models performed reasonably well, but the strongest results came from Linear Regression, Random Forest, and Voting_Top3.</vt:lpstr>
      <vt:lpstr>Best Validation and Test Results</vt:lpstr>
      <vt:lpstr>Ensemble Model Analysis</vt:lpstr>
      <vt:lpstr>Why Random Forest Performed Best</vt:lpstr>
      <vt:lpstr>Visualizations Used</vt:lpstr>
      <vt:lpstr>What the Diabetes Target Histogram Shows</vt:lpstr>
      <vt:lpstr>What the Feature Correlation Heatmap Shows</vt:lpstr>
      <vt:lpstr>Validation vs Test R² by Model</vt:lpstr>
      <vt:lpstr>Validation vs Test MSE by Model</vt:lpstr>
      <vt:lpstr>Predicted vs Actual Values (Random Forest)</vt:lpstr>
      <vt:lpstr>Limitations and Future Improvements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imran.khan-W7002815</dc:creator>
  <cp:lastModifiedBy>imran.khan-W7002815</cp:lastModifiedBy>
  <cp:revision>4</cp:revision>
  <dcterms:created xsi:type="dcterms:W3CDTF">2026-05-03T19:56:34Z</dcterms:created>
  <dcterms:modified xsi:type="dcterms:W3CDTF">2026-05-03T21:53:53Z</dcterms:modified>
</cp:coreProperties>
</file>